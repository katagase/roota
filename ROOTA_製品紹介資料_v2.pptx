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32659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2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3.png"/><Relationship Id="rId10" Type="http://schemas.openxmlformats.org/officeDocument/2006/relationships/image" Target="../media/image17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2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4.png"/><Relationship Id="rId4" Type="http://schemas.openxmlformats.org/officeDocument/2006/relationships/image" Target="../media/image2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1.png"/><Relationship Id="rId4" Type="http://schemas.openxmlformats.org/officeDocument/2006/relationships/image" Target="../media/image16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emble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50408" y="868680"/>
            <a:ext cx="1097280" cy="109728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2029968"/>
            <a:ext cx="1219169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kern="0" spc="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0" y="256032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DDF3E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完全クローズドAIプラットフォーム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9169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組織の知識に、根を張るAI。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0" y="4224528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dirty="0">
                <a:solidFill>
                  <a:srgbClr val="ECFBF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情報を守りながら、AIを使う時代へ。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4769968" y="5029200"/>
            <a:ext cx="2651760" cy="62179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769968" y="5029200"/>
            <a:ext cx="26517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無料で試す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0" y="5943600"/>
            <a:ext cx="1219169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DDF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Google製AIモデル「Gemma」採用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PROBLEM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AIは使いたい。でも、社内の情報は外に出せない。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881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多くの中小企業が、「探す手間」「書類への自信のなさ」、そしてセキュリティの不安からAI活用に踏み切れずにいます。ROOTAは、まさにこの課題のために生まれました。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6974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60120" y="301752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7864" y="3255264"/>
            <a:ext cx="393192" cy="39319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「あの決まり、どこ?」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14400" y="4892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出張申請のたび、社内資料を漁って探している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56432" y="26974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3776472" y="301752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14216" y="3255264"/>
            <a:ext cx="393192" cy="39319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30752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「これで合ってる?」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3730752" y="4892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メールや報告書、提出前に毎回ひとりで不安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2784" y="26974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2"/>
          <p:cNvSpPr/>
          <p:nvPr/>
        </p:nvSpPr>
        <p:spPr>
          <a:xfrm>
            <a:off x="6592824" y="301752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30568" y="3255264"/>
            <a:ext cx="393192" cy="393192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47104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外に出せない情報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6547104" y="4892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顧客情報や契約情報を、クラウドAIに預けられない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089136" y="2697480"/>
            <a:ext cx="2697480" cy="3200400"/>
          </a:xfrm>
          <a:prstGeom prst="roundRect">
            <a:avLst>
              <a:gd name="adj" fmla="val 474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6"/>
          <p:cNvSpPr/>
          <p:nvPr/>
        </p:nvSpPr>
        <p:spPr>
          <a:xfrm>
            <a:off x="9409176" y="301752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46920" y="3255264"/>
            <a:ext cx="393192" cy="393192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63456" y="4069080"/>
            <a:ext cx="2148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品質が人まかせ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9363456" y="4892040"/>
            <a:ext cx="21488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書類の出来は人によってバラバラ、ベテラン頼み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1264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→ 「探す・作る・守る」を、情報を外に出さず、社内で完結して解決します。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IS ROOTA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123444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Geminiは、</a:t>
            </a:r>
            <a:r>
              <a:rPr lang="en-US" sz="3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知っている</a:t>
            </a:r>
            <a:r>
              <a:rPr lang="en-US" sz="38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38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38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ROOTAは、</a:t>
            </a:r>
            <a:r>
              <a:rPr lang="en-US" sz="38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覚えている</a:t>
            </a:r>
            <a:r>
              <a:rPr lang="en-US" sz="380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822960" y="3246120"/>
            <a:ext cx="5120640" cy="2880360"/>
          </a:xfrm>
          <a:prstGeom prst="roundRect">
            <a:avLst>
              <a:gd name="adj" fmla="val 4444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188720" y="352044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一般的なAIが持つ知識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4069080"/>
            <a:ext cx="45720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インターネット上の膨大な一般知識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誰でも調べられる公開情報</a:t>
            </a:r>
            <a:endParaRPr lang="en-US" sz="13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50" dirty="0">
                <a:solidFill>
                  <a:srgbClr val="98A0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御社の社内規程・契約書・FAQは知らない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245352" y="3246120"/>
            <a:ext cx="5120640" cy="2880360"/>
          </a:xfrm>
          <a:prstGeom prst="roundRect">
            <a:avLst>
              <a:gd name="adj" fmla="val 4444"/>
            </a:avLst>
          </a:prstGeom>
          <a:solidFill>
            <a:srgbClr val="EEF7F2"/>
          </a:solidFill>
          <a:ln w="12700">
            <a:solidFill>
              <a:srgbClr val="55C191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6"/>
          <p:cNvSpPr/>
          <p:nvPr/>
        </p:nvSpPr>
        <p:spPr>
          <a:xfrm>
            <a:off x="6583680" y="3520440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ROOTAが蓄積する知識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6583680" y="4069080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社内規程・マニュアル・手順書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FAQ・議事録・過去案件資料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契約関連文書（閉域で安全に）</a:t>
            </a:r>
            <a:endParaRPr lang="en-US" sz="1350" dirty="0"/>
          </a:p>
          <a:p>
            <a:pPr marL="342900" indent="-342900"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対話形式で、必要な時に引き出せる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MODEL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Google製AIモデル「Gemma」を採用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誰もが知るGoogleのAIを、情報を外に出さずに使える——それがROOTAです。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825496"/>
            <a:ext cx="384048" cy="384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Googleが開発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GemmaはGoogle（DeepMind）自身が開発。Gemini 3と同じ研究・技術から生まれたモデルです。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61688" y="228600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4681728" y="2606040"/>
            <a:ext cx="822960" cy="82296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01184" y="2825496"/>
            <a:ext cx="384048" cy="384048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36008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閉域で動かせる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4636008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Geminiはクラウド専用。一方Gemmaは自社環境で完結して動かせる唯一のGoogle製モデルです。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8083296" y="2286000"/>
            <a:ext cx="3520440" cy="2331720"/>
          </a:xfrm>
          <a:prstGeom prst="roundRect">
            <a:avLst>
              <a:gd name="adj" fmla="val 549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6" name="Shape 12"/>
          <p:cNvSpPr/>
          <p:nvPr/>
        </p:nvSpPr>
        <p:spPr>
          <a:xfrm>
            <a:off x="8403336" y="260604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2792" y="2825496"/>
            <a:ext cx="384048" cy="384048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57616" y="361188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商用・高い日本語性能</a:t>
            </a:r>
            <a:endParaRPr lang="en-US" sz="1600" dirty="0"/>
          </a:p>
        </p:txBody>
      </p:sp>
      <p:sp>
        <p:nvSpPr>
          <p:cNvPr id="19" name="Text 14"/>
          <p:cNvSpPr/>
          <p:nvPr/>
        </p:nvSpPr>
        <p:spPr>
          <a:xfrm>
            <a:off x="8357616" y="40233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商用利用に対応し、日本語の精度も高い。御社の業務文書をそのまま扱えます。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40080" y="4937760"/>
            <a:ext cx="10899648" cy="1280160"/>
          </a:xfrm>
          <a:prstGeom prst="roundRect">
            <a:avLst>
              <a:gd name="adj" fmla="val 10000"/>
            </a:avLst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6"/>
          <p:cNvSpPr/>
          <p:nvPr/>
        </p:nvSpPr>
        <p:spPr>
          <a:xfrm>
            <a:off x="914400" y="4937760"/>
            <a:ext cx="10332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8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つまり ROOTA は </a:t>
            </a:r>
            <a:r>
              <a:rPr lang="en-US" sz="18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「閉域で動かせる、GoogleのAI」</a:t>
            </a:r>
            <a:r>
              <a:rPr lang="en-US" sz="18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。</a:t>
            </a:r>
            <a:endParaRPr lang="en-US" sz="180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CADCF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情報を外に出さないという御社の要件を満たしたまま、Googleの技術を活用できます。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COMPARISON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Geminiは一般知識に強い。ROOTAは貴社の知識に強い。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828800"/>
          <a:ext cx="10908792" cy="3858768"/>
        </p:xfrm>
        <a:graphic>
          <a:graphicData uri="http://schemas.openxmlformats.org/drawingml/2006/table">
            <a:tbl>
              <a:tblPr/>
              <a:tblGrid>
                <a:gridCol w="560527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651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項目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CADCFC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Gemini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2E9E6B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ROOTA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1F3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一般知識への質問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○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社内規程・マニュアル検索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社内FAQ・議事録検索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契約書・社内資料の検索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オンプレミス運用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×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50" dirty="0">
                          <a:solidFill>
                            <a:srgbClr val="0F1F3D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外部への情報送信なし</a:t>
                      </a:r>
                      <a:endParaRPr lang="en-US" sz="135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marL="50800" marR="50800" marT="50800" marB="50800"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5B647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△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500" b="1" dirty="0">
                          <a:solidFill>
                            <a:srgbClr val="1F7A52"/>
                          </a:solidFill>
                          <a:latin typeface="Noto Sans JP" pitchFamily="34" charset="0"/>
                          <a:ea typeface="Noto Sans JP" pitchFamily="34" charset="-122"/>
                          <a:cs typeface="Noto Sans JP" pitchFamily="34" charset="-120"/>
                        </a:rPr>
                        <a:t>◎</a:t>
                      </a:r>
                      <a:endParaRPr lang="en-US" sz="1500" dirty="0">
                        <a:latin typeface="Noto Sans JP" charset="0"/>
                        <a:ea typeface="Noto Sans JP" charset="0"/>
                        <a:cs typeface="Noto Sans JP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6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640080" y="594360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◎ 非常に強い ／ ○ 対応 ／ △ 条件付き ／ × 非対応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ROOTA DOES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探す。作る。守る。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960120" y="40690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「出張申請の決まりは?」散らばった規程・マニュアルを、聞くだけで即検索。出典付きで答えます。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27448" y="2377440"/>
            <a:ext cx="914400" cy="91440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作る</a:t>
            </a:r>
            <a:endParaRPr lang="en-US" sz="2200" dirty="0"/>
          </a:p>
        </p:txBody>
      </p:sp>
      <p:sp>
        <p:nvSpPr>
          <p:cNvPr id="13" name="Text 9"/>
          <p:cNvSpPr/>
          <p:nvPr/>
        </p:nvSpPr>
        <p:spPr>
          <a:xfrm>
            <a:off x="4681728" y="40690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会議音声から議事録、月次報告書のたたき台まで。定型業務のアウトプットを自動で作成します。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8449056" y="237744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474720"/>
            <a:ext cx="2926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守る</a:t>
            </a:r>
            <a:endParaRPr lang="en-US" sz="2200" dirty="0"/>
          </a:p>
        </p:txBody>
      </p:sp>
      <p:sp>
        <p:nvSpPr>
          <p:cNvPr id="18" name="Text 13"/>
          <p:cNvSpPr/>
          <p:nvPr/>
        </p:nvSpPr>
        <p:spPr>
          <a:xfrm>
            <a:off x="8403336" y="4069080"/>
            <a:ext cx="2971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「このメール、項目漏れない?」提出前に自社のルールでチェック。ミスや気まずい思いを未然に防ぎます。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Geminiのように問いかけるだけ。答えるのは、貴社の知識。すべて社内で完結します。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 · HR &amp; ADMIN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総務・人事 ── バックオフィスの「探す」を、聞くだけで。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03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2996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出張旅費規程の上限と、精算の締日・手順を教えて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0120" y="3090672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60120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規程を漁る手間をなくし、申請ミスを防ぐ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53912" y="1828800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031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6872" y="202996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慶弔休暇の取得条件と、申請の方法は？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73952" y="3090672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6473952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制度の確認をその場で。問い合わせ対応を削減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950208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2452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151376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リモート勤務・時短勤務の申請ルールは？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60120" y="5212080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96012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就業規則を即参照。人事への細かい質問が減る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53912" y="3950208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2452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6872" y="4151376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新入社員の受け入れで必要な手続きリストを作成して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73952" y="5212080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7"/>
          <p:cNvSpPr/>
          <p:nvPr/>
        </p:nvSpPr>
        <p:spPr>
          <a:xfrm>
            <a:off x="6473952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受け入れ時のタスク漏れを防ぎ、業務を効率化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CASES · FINANCE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経理・管理 ── 判断と書類づくりを、ベテラン頼みから卒業。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103120"/>
            <a:ext cx="384048" cy="38404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63040" y="202996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経費精算で、交際費として認められる範囲は？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960120" y="3090672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60120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判断基準を即確認。差し戻しや確認漏れを防ぐ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153912" y="1828800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2103120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976872" y="2029968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稟議申請の、金額別の決裁ルートを教えて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6473952" y="3090672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3" name="Text 9"/>
          <p:cNvSpPr/>
          <p:nvPr/>
        </p:nvSpPr>
        <p:spPr>
          <a:xfrm>
            <a:off x="6473952" y="3163824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手続きの属人化を解消し、誰でも迷わず申請できる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640080" y="3950208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4224528"/>
            <a:ext cx="384048" cy="38404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463040" y="4151376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あの取引先との契約、過去の条件と更新時の注意点は？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960120" y="5212080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8" name="Text 13"/>
          <p:cNvSpPr/>
          <p:nvPr/>
        </p:nvSpPr>
        <p:spPr>
          <a:xfrm>
            <a:off x="960120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過去の案件・契約情報を即座に引き当てる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153912" y="3950208"/>
            <a:ext cx="5394960" cy="1920240"/>
          </a:xfrm>
          <a:prstGeom prst="roundRect">
            <a:avLst>
              <a:gd name="adj" fmla="val 6667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46520" y="4224528"/>
            <a:ext cx="384048" cy="38404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6976872" y="4151376"/>
            <a:ext cx="43434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</a:t>
            </a: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月次報告書のフォーマットの場所と、作成時のチェックポイントは？</a:t>
            </a:r>
            <a:r>
              <a:rPr lang="en-US" sz="1300" b="1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」</a:t>
            </a:r>
            <a:endParaRPr lang="en-US" sz="1300" dirty="0"/>
          </a:p>
        </p:txBody>
      </p:sp>
      <p:sp>
        <p:nvSpPr>
          <p:cNvPr id="22" name="Shape 16"/>
          <p:cNvSpPr/>
          <p:nvPr/>
        </p:nvSpPr>
        <p:spPr>
          <a:xfrm>
            <a:off x="6473952" y="5212080"/>
            <a:ext cx="4754880" cy="0"/>
          </a:xfrm>
          <a:prstGeom prst="line">
            <a:avLst/>
          </a:prstGeom>
          <a:noFill/>
          <a:ln w="9525">
            <a:solidFill>
              <a:srgbClr val="D8E0EA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3" name="Text 17"/>
          <p:cNvSpPr/>
          <p:nvPr/>
        </p:nvSpPr>
        <p:spPr>
          <a:xfrm>
            <a:off x="6473952" y="5285232"/>
            <a:ext cx="4754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0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   </a:t>
            </a: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ベテランの頭の中にある作成のコツをナレッジ化する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AUTO MINUTES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会議の音声から、議事録を自動で。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9464040" y="932688"/>
            <a:ext cx="1828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開発予定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16916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録音をアップロードすれば、要点と決定事項を整理した議事録を自動作成。そのまま社内ナレッジに蓄積されます。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40080" y="23774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Shape 6"/>
          <p:cNvSpPr/>
          <p:nvPr/>
        </p:nvSpPr>
        <p:spPr>
          <a:xfrm>
            <a:off x="1463040" y="26517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91640" y="2880360"/>
            <a:ext cx="365760" cy="36576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会議音声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録音ファイルを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アップロード</a:t>
            </a:r>
            <a:endParaRPr lang="en-US" sz="105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82112" y="3246120"/>
            <a:ext cx="292608" cy="292608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3429000" y="23774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4" name="Shape 10"/>
          <p:cNvSpPr/>
          <p:nvPr/>
        </p:nvSpPr>
        <p:spPr>
          <a:xfrm>
            <a:off x="4251960" y="26517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2880360"/>
            <a:ext cx="365760" cy="3657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356616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自動で文字起こし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356616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オンプレのAIが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社内で処理</a:t>
            </a:r>
            <a:endParaRPr lang="en-US" sz="1050" dirty="0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71032" y="3246120"/>
            <a:ext cx="292608" cy="292608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6217920" y="23774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4"/>
          <p:cNvSpPr/>
          <p:nvPr/>
        </p:nvSpPr>
        <p:spPr>
          <a:xfrm>
            <a:off x="7040880" y="26517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1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69480" y="2880360"/>
            <a:ext cx="365760" cy="36576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35508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議事録に整理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635508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要点・決定事項を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自動で抽出</a:t>
            </a:r>
            <a:endParaRPr lang="en-US" sz="105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59952" y="3246120"/>
            <a:ext cx="292608" cy="292608"/>
          </a:xfrm>
          <a:prstGeom prst="rect">
            <a:avLst/>
          </a:prstGeom>
        </p:spPr>
      </p:pic>
      <p:sp>
        <p:nvSpPr>
          <p:cNvPr id="25" name="Shape 17"/>
          <p:cNvSpPr/>
          <p:nvPr/>
        </p:nvSpPr>
        <p:spPr>
          <a:xfrm>
            <a:off x="9006840" y="2377440"/>
            <a:ext cx="2468880" cy="2286000"/>
          </a:xfrm>
          <a:prstGeom prst="roundRect">
            <a:avLst>
              <a:gd name="adj" fmla="val 5600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6" name="Shape 18"/>
          <p:cNvSpPr/>
          <p:nvPr/>
        </p:nvSpPr>
        <p:spPr>
          <a:xfrm>
            <a:off x="9829800" y="2651760"/>
            <a:ext cx="822960" cy="82296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7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58400" y="2880360"/>
            <a:ext cx="365760" cy="365760"/>
          </a:xfrm>
          <a:prstGeom prst="rect">
            <a:avLst/>
          </a:prstGeom>
        </p:spPr>
      </p:pic>
      <p:sp>
        <p:nvSpPr>
          <p:cNvPr id="28" name="Text 19"/>
          <p:cNvSpPr/>
          <p:nvPr/>
        </p:nvSpPr>
        <p:spPr>
          <a:xfrm>
            <a:off x="9144000" y="3611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ナレッジに蓄積</a:t>
            </a:r>
            <a:endParaRPr lang="en-US" sz="1350" dirty="0"/>
          </a:p>
        </p:txBody>
      </p:sp>
      <p:sp>
        <p:nvSpPr>
          <p:cNvPr id="29" name="Text 20"/>
          <p:cNvSpPr/>
          <p:nvPr/>
        </p:nvSpPr>
        <p:spPr>
          <a:xfrm>
            <a:off x="9144000" y="3977640"/>
            <a:ext cx="21945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あとから</a:t>
            </a:r>
            <a:endParaRPr lang="en-US" sz="10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対話で検索可能</a:t>
            </a:r>
            <a:endParaRPr lang="en-US" sz="1050" dirty="0"/>
          </a:p>
        </p:txBody>
      </p:sp>
      <p:sp>
        <p:nvSpPr>
          <p:cNvPr id="30" name="Shape 21"/>
          <p:cNvSpPr/>
          <p:nvPr/>
        </p:nvSpPr>
        <p:spPr>
          <a:xfrm>
            <a:off x="640080" y="4983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6E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1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6112" y="5239512"/>
            <a:ext cx="384048" cy="384048"/>
          </a:xfrm>
          <a:prstGeom prst="rect">
            <a:avLst/>
          </a:prstGeom>
        </p:spPr>
      </p:pic>
      <p:sp>
        <p:nvSpPr>
          <p:cNvPr id="32" name="Text 22"/>
          <p:cNvSpPr/>
          <p:nvPr/>
        </p:nvSpPr>
        <p:spPr>
          <a:xfrm>
            <a:off x="1417320" y="5093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機微情報も外に出さない</a:t>
            </a:r>
            <a:endParaRPr lang="en-US" sz="1250" dirty="0"/>
          </a:p>
        </p:txBody>
      </p:sp>
      <p:sp>
        <p:nvSpPr>
          <p:cNvPr id="33" name="Text 23"/>
          <p:cNvSpPr/>
          <p:nvPr/>
        </p:nvSpPr>
        <p:spPr>
          <a:xfrm>
            <a:off x="1417320" y="5440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人事・経営・契約の会議も、録音を外部に出さず社内で処理</a:t>
            </a:r>
            <a:endParaRPr lang="en-US" sz="1000" dirty="0"/>
          </a:p>
        </p:txBody>
      </p:sp>
      <p:sp>
        <p:nvSpPr>
          <p:cNvPr id="34" name="Shape 24"/>
          <p:cNvSpPr/>
          <p:nvPr/>
        </p:nvSpPr>
        <p:spPr>
          <a:xfrm>
            <a:off x="4361688" y="4983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6E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5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617720" y="5239512"/>
            <a:ext cx="384048" cy="384048"/>
          </a:xfrm>
          <a:prstGeom prst="rect">
            <a:avLst/>
          </a:prstGeom>
        </p:spPr>
      </p:pic>
      <p:sp>
        <p:nvSpPr>
          <p:cNvPr id="36" name="Text 25"/>
          <p:cNvSpPr/>
          <p:nvPr/>
        </p:nvSpPr>
        <p:spPr>
          <a:xfrm>
            <a:off x="5138928" y="5093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誰がやっても同じ品質</a:t>
            </a:r>
            <a:endParaRPr lang="en-US" sz="1250" dirty="0"/>
          </a:p>
        </p:txBody>
      </p:sp>
      <p:sp>
        <p:nvSpPr>
          <p:cNvPr id="37" name="Text 26"/>
          <p:cNvSpPr/>
          <p:nvPr/>
        </p:nvSpPr>
        <p:spPr>
          <a:xfrm>
            <a:off x="5138928" y="5440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決まった型で出力。新人でもベテランと同じ議事録に</a:t>
            </a:r>
            <a:endParaRPr lang="en-US" sz="1000" dirty="0"/>
          </a:p>
        </p:txBody>
      </p:sp>
      <p:sp>
        <p:nvSpPr>
          <p:cNvPr id="38" name="Shape 27"/>
          <p:cNvSpPr/>
          <p:nvPr/>
        </p:nvSpPr>
        <p:spPr>
          <a:xfrm>
            <a:off x="8083296" y="4983480"/>
            <a:ext cx="3520440" cy="1234440"/>
          </a:xfrm>
          <a:prstGeom prst="roundRect">
            <a:avLst>
              <a:gd name="adj" fmla="val 5926"/>
            </a:avLst>
          </a:prstGeom>
          <a:solidFill>
            <a:srgbClr val="EAF6EF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9" name="Image 9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339328" y="5239512"/>
            <a:ext cx="384048" cy="384048"/>
          </a:xfrm>
          <a:prstGeom prst="rect">
            <a:avLst/>
          </a:prstGeom>
        </p:spPr>
      </p:pic>
      <p:sp>
        <p:nvSpPr>
          <p:cNvPr id="40" name="Text 28"/>
          <p:cNvSpPr/>
          <p:nvPr/>
        </p:nvSpPr>
        <p:spPr>
          <a:xfrm>
            <a:off x="8860536" y="5093208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作って終わりにしない</a:t>
            </a:r>
            <a:endParaRPr lang="en-US" sz="1250" dirty="0"/>
          </a:p>
        </p:txBody>
      </p:sp>
      <p:sp>
        <p:nvSpPr>
          <p:cNvPr id="41" name="Text 29"/>
          <p:cNvSpPr/>
          <p:nvPr/>
        </p:nvSpPr>
        <p:spPr>
          <a:xfrm>
            <a:off x="8860536" y="5440680"/>
            <a:ext cx="2606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議事録はそのまま検索対象。「先週決まったことは?」に即答</a:t>
            </a:r>
            <a:endParaRPr lang="en-US" sz="1000" dirty="0"/>
          </a:p>
        </p:txBody>
      </p:sp>
      <p:sp>
        <p:nvSpPr>
          <p:cNvPr id="42" name="Text 30"/>
          <p:cNvSpPr/>
          <p:nvPr/>
        </p:nvSpPr>
        <p:spPr>
          <a:xfrm>
            <a:off x="640080" y="63550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本機能は開発中です。提供時期・仕様は変更になる場合があります。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WHY IT IS SAFE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外に出さない。根拠を示す。社内に貯まる。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242316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67919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完全クローズド環境</a:t>
            </a:r>
            <a:endParaRPr lang="en-US" sz="1650" dirty="0"/>
          </a:p>
        </p:txBody>
      </p:sp>
      <p:sp>
        <p:nvSpPr>
          <p:cNvPr id="8" name="Text 5"/>
          <p:cNvSpPr/>
          <p:nvPr/>
        </p:nvSpPr>
        <p:spPr>
          <a:xfrm>
            <a:off x="960120" y="42245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すべてのAI処理を御社環境内で実施。外部AIサービスやインターネットへ情報を送信しません。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27448" y="2423160"/>
            <a:ext cx="914400" cy="91440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7919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回答に根拠を明示</a:t>
            </a:r>
            <a:endParaRPr lang="en-US" sz="1650" dirty="0"/>
          </a:p>
        </p:txBody>
      </p:sp>
      <p:sp>
        <p:nvSpPr>
          <p:cNvPr id="13" name="Text 9"/>
          <p:cNvSpPr/>
          <p:nvPr/>
        </p:nvSpPr>
        <p:spPr>
          <a:xfrm>
            <a:off x="4681728" y="42245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回答には参照元の社内文書を出典付きで提示。AIの「言いっぱなし」を防ぎ、信頼して使えます。</a:t>
            </a:r>
            <a:endParaRPr lang="en-US" sz="120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356616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8449056" y="242316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67919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52044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社内ナレッジを活用</a:t>
            </a:r>
            <a:endParaRPr lang="en-US" sz="1650" dirty="0"/>
          </a:p>
        </p:txBody>
      </p:sp>
      <p:sp>
        <p:nvSpPr>
          <p:cNvPr id="18" name="Text 13"/>
          <p:cNvSpPr/>
          <p:nvPr/>
        </p:nvSpPr>
        <p:spPr>
          <a:xfrm>
            <a:off x="8403336" y="4224528"/>
            <a:ext cx="29718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規程・マニュアル・FAQ・議事録・契約文書を統合管理。組織の知識を一箇所に蓄積します。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640080" y="580644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社内データをモデルの再学習に使うことはありません。貯めるのは「知識」であって、AIが勝手に学ぶことはありません。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すべて、御社環境の中で動きます。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83768" y="228600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2045056" y="260604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91944" y="2852928"/>
            <a:ext cx="374904" cy="37490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066648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A0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LLM（生成AI）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66648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Google Gemma 4 26B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066648" y="4526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vLLM で高速提供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4495648" y="228600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1" name="Shape 8"/>
          <p:cNvSpPr/>
          <p:nvPr/>
        </p:nvSpPr>
        <p:spPr>
          <a:xfrm>
            <a:off x="5656936" y="2606040"/>
            <a:ext cx="868680" cy="86868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03824" y="2852928"/>
            <a:ext cx="374904" cy="37490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78528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A0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音声認識・議事録化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4678528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Whisper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4678528" y="4526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会議音声を社内で文字起こし</a:t>
            </a:r>
            <a:endParaRPr lang="en-US" sz="1050" dirty="0"/>
          </a:p>
        </p:txBody>
      </p:sp>
      <p:sp>
        <p:nvSpPr>
          <p:cNvPr id="16" name="Shape 12"/>
          <p:cNvSpPr/>
          <p:nvPr/>
        </p:nvSpPr>
        <p:spPr>
          <a:xfrm>
            <a:off x="8107528" y="2286000"/>
            <a:ext cx="3200400" cy="2926080"/>
          </a:xfrm>
          <a:prstGeom prst="roundRect">
            <a:avLst>
              <a:gd name="adj" fmla="val 4375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7" name="Shape 13"/>
          <p:cNvSpPr/>
          <p:nvPr/>
        </p:nvSpPr>
        <p:spPr>
          <a:xfrm>
            <a:off x="9268816" y="260604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15704" y="2852928"/>
            <a:ext cx="374904" cy="374904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290408" y="3611880"/>
            <a:ext cx="2834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98A0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ベクトル検索</a:t>
            </a:r>
            <a:endParaRPr lang="en-US" sz="1200" dirty="0"/>
          </a:p>
        </p:txBody>
      </p:sp>
      <p:sp>
        <p:nvSpPr>
          <p:cNvPr id="20" name="Text 15"/>
          <p:cNvSpPr/>
          <p:nvPr/>
        </p:nvSpPr>
        <p:spPr>
          <a:xfrm>
            <a:off x="8290408" y="3959352"/>
            <a:ext cx="2834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F1F3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Ruri v3 310M</a:t>
            </a:r>
            <a:endParaRPr lang="en-US" sz="1600" dirty="0"/>
          </a:p>
        </p:txBody>
      </p:sp>
      <p:sp>
        <p:nvSpPr>
          <p:cNvPr id="21" name="Text 16"/>
          <p:cNvSpPr/>
          <p:nvPr/>
        </p:nvSpPr>
        <p:spPr>
          <a:xfrm>
            <a:off x="8290408" y="452628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日本語特化の高精度検索</a:t>
            </a:r>
            <a:endParaRPr lang="en-US" sz="1050" dirty="0"/>
          </a:p>
        </p:txBody>
      </p:sp>
      <p:sp>
        <p:nvSpPr>
          <p:cNvPr id="22" name="Text 17"/>
          <p:cNvSpPr/>
          <p:nvPr/>
        </p:nvSpPr>
        <p:spPr>
          <a:xfrm>
            <a:off x="457200" y="54864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音声認識・埋め込みも日本語特化。会議音声からの議事録作成まで、すべて社内で完結します。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457200" y="594360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すべてオンプレミス環境で運用可能 — データはひとつも外部に出ません。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5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データは、国内のデータセンターから一歩も出ません。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1005840" y="1783080"/>
            <a:ext cx="2377440" cy="1005840"/>
          </a:xfrm>
          <a:prstGeom prst="roundRect">
            <a:avLst>
              <a:gd name="adj" fmla="val 7273"/>
            </a:avLst>
          </a:prstGeom>
          <a:solidFill>
            <a:srgbClr val="EEF7F2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Text 3"/>
          <p:cNvSpPr/>
          <p:nvPr/>
        </p:nvSpPr>
        <p:spPr>
          <a:xfrm>
            <a:off x="1005840" y="1783080"/>
            <a:ext cx="23774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4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利用者（社員）</a:t>
            </a:r>
            <a:endParaRPr lang="en-US" sz="140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PC・スマホ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194560" y="2788920"/>
            <a:ext cx="0" cy="777240"/>
          </a:xfrm>
          <a:prstGeom prst="line">
            <a:avLst/>
          </a:prstGeom>
          <a:noFill/>
          <a:ln w="19050">
            <a:solidFill>
              <a:srgbClr val="5B6472"/>
            </a:solidFill>
            <a:prstDash val="solid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2468880" y="28346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インターネット</a:t>
            </a:r>
            <a:endParaRPr lang="en-US" sz="105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（暗号化通信）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731520" y="3611880"/>
            <a:ext cx="8869680" cy="2788920"/>
          </a:xfrm>
          <a:prstGeom prst="roundRect">
            <a:avLst>
              <a:gd name="adj" fmla="val 2623"/>
            </a:avLst>
          </a:prstGeom>
          <a:solidFill>
            <a:srgbClr val="EAF6EF"/>
          </a:solidFill>
          <a:ln w="19050">
            <a:solidFill>
              <a:srgbClr val="2E9E6B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1051560" y="3776472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門前仲町データセンター（国内）</a:t>
            </a:r>
            <a:endParaRPr lang="en-US" sz="1400" dirty="0"/>
          </a:p>
          <a:p>
            <a:pPr marL="0" indent="0">
              <a:lnSpc>
                <a:spcPct val="105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ROOTAサーバーを当施設内に設置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143000" y="452628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0F1F3D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1" name="Text 9"/>
          <p:cNvSpPr/>
          <p:nvPr/>
        </p:nvSpPr>
        <p:spPr>
          <a:xfrm>
            <a:off x="1143000" y="45262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フロントサーバー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Web・アプリ・文書管理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（利用者の窓口）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943600" y="4526280"/>
            <a:ext cx="3246120" cy="1143000"/>
          </a:xfrm>
          <a:prstGeom prst="roundRect">
            <a:avLst>
              <a:gd name="adj" fmla="val 5600"/>
            </a:avLst>
          </a:prstGeom>
          <a:solidFill>
            <a:srgbClr val="FFFFFF"/>
          </a:solidFill>
          <a:ln w="12700">
            <a:solidFill>
              <a:srgbClr val="2E9E6B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1"/>
          <p:cNvSpPr/>
          <p:nvPr/>
        </p:nvSpPr>
        <p:spPr>
          <a:xfrm>
            <a:off x="5943600" y="4526280"/>
            <a:ext cx="32461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5000"/>
              </a:lnSpc>
              <a:buNone/>
            </a:pPr>
            <a:r>
              <a:rPr lang="en-US" sz="13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LLMサーバー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AI本体（GPU搭載）</a:t>
            </a:r>
            <a:endParaRPr lang="en-US" sz="1350" dirty="0"/>
          </a:p>
          <a:p>
            <a:pPr marL="0" indent="0" algn="ctr">
              <a:lnSpc>
                <a:spcPct val="115000"/>
              </a:lnSpc>
              <a:buNone/>
            </a:pPr>
            <a:r>
              <a:rPr lang="en-US" sz="10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Gemma・Whisper・Ruri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4434840" y="5097780"/>
            <a:ext cx="1463040" cy="0"/>
          </a:xfrm>
          <a:prstGeom prst="line">
            <a:avLst/>
          </a:prstGeom>
          <a:noFill/>
          <a:ln w="22225">
            <a:solidFill>
              <a:srgbClr val="0F1F3D"/>
            </a:solidFill>
            <a:prstDash val="solid"/>
            <a:headEnd type="triangle"/>
            <a:tailEnd type="triangle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4389120" y="4686300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専用線</a:t>
            </a:r>
            <a:endParaRPr lang="en-US" sz="1000" dirty="0"/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直結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43000" y="5815584"/>
            <a:ext cx="8046720" cy="548640"/>
          </a:xfrm>
          <a:prstGeom prst="roundRect">
            <a:avLst>
              <a:gd name="adj" fmla="val 10000"/>
            </a:avLst>
          </a:prstGeom>
          <a:solidFill>
            <a:srgbClr val="EEF7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5"/>
          <p:cNvSpPr/>
          <p:nvPr/>
        </p:nvSpPr>
        <p:spPr>
          <a:xfrm>
            <a:off x="1325880" y="5815584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社内文書・議事録・ベクトルデータ　</a:t>
            </a:r>
            <a:r>
              <a:rPr lang="en-US" sz="1100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この環境内だけに保管／外部送信なし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10104120" y="4480560"/>
            <a:ext cx="1600200" cy="1234440"/>
          </a:xfrm>
          <a:prstGeom prst="roundRect">
            <a:avLst>
              <a:gd name="adj" fmla="val 5926"/>
            </a:avLst>
          </a:prstGeom>
          <a:solidFill>
            <a:srgbClr val="FCEAE8"/>
          </a:solidFill>
          <a:ln w="127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9" name="Text 17"/>
          <p:cNvSpPr/>
          <p:nvPr/>
        </p:nvSpPr>
        <p:spPr>
          <a:xfrm>
            <a:off x="10104120" y="4480560"/>
            <a:ext cx="16002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E548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外部クラウド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050" dirty="0">
                <a:solidFill>
                  <a:srgbClr val="E548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外部AI</a:t>
            </a:r>
            <a:endParaRPr lang="en-US" sz="1250" dirty="0"/>
          </a:p>
          <a:p>
            <a:pPr marL="0" indent="0" algn="ctr">
              <a:lnSpc>
                <a:spcPct val="110000"/>
              </a:lnSpc>
              <a:buNone/>
            </a:pPr>
            <a:r>
              <a:rPr lang="en-US" sz="1200" b="1" dirty="0">
                <a:solidFill>
                  <a:srgbClr val="E5484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遮断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9646920" y="5097780"/>
            <a:ext cx="182880" cy="0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1" name="Shape 19"/>
          <p:cNvSpPr/>
          <p:nvPr/>
        </p:nvSpPr>
        <p:spPr>
          <a:xfrm>
            <a:off x="9921240" y="5097780"/>
            <a:ext cx="182880" cy="0"/>
          </a:xfrm>
          <a:prstGeom prst="line">
            <a:avLst/>
          </a:prstGeom>
          <a:noFill/>
          <a:ln w="25400">
            <a:solidFill>
              <a:srgbClr val="E5484D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8944" y="4951476"/>
            <a:ext cx="292608" cy="292608"/>
          </a:xfrm>
          <a:prstGeom prst="rect">
            <a:avLst/>
          </a:prstGeom>
        </p:spPr>
      </p:pic>
      <p:sp>
        <p:nvSpPr>
          <p:cNvPr id="23" name="Text 20"/>
          <p:cNvSpPr/>
          <p:nvPr/>
        </p:nvSpPr>
        <p:spPr>
          <a:xfrm>
            <a:off x="640080" y="6473952"/>
            <a:ext cx="11338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利用者はインターネット経由で窓口にアクセス。AI処理もデータ保管もすべてDC内で完結し、外部のクラウドAIには一切送信しません。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SECURITY AND PRIVACY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ROOTAの、3つの約束。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3520440" cy="37033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005840" y="237744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61872" y="263347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① 外部送信ゼロ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960120" y="3977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入力・回答・会話履歴・学習した文書まで、あらゆるデータが社外に出ません。外部API・クラウドLLMへの通信はゼロ。フォントやアイコンも製品内に同梱し（CDN不使用）、利用状況の外部送信も無効化しています。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361688" y="2011680"/>
            <a:ext cx="3520440" cy="37033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0" name="Shape 7"/>
          <p:cNvSpPr/>
          <p:nvPr/>
        </p:nvSpPr>
        <p:spPr>
          <a:xfrm>
            <a:off x="4727448" y="2377440"/>
            <a:ext cx="914400" cy="91440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83480" y="263347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681728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② テナント完全分離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4681728" y="3977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会話・ナレッジ・ユーザー情報を、企業・部門ごとに構造的に分離。DBは行レベルセキュリティ（PostgreSQL RLS）で保護し、他社の文書が回答や引用に混ざることは構造上ありません（越境ゼロを検証済み）。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8083296" y="2011680"/>
            <a:ext cx="3520440" cy="370332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5" name="Shape 11"/>
          <p:cNvSpPr/>
          <p:nvPr/>
        </p:nvSpPr>
        <p:spPr>
          <a:xfrm>
            <a:off x="8449056" y="237744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05088" y="263347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403336" y="347472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05000"/>
              </a:lnSpc>
              <a:buNone/>
            </a:pPr>
            <a:r>
              <a:rPr lang="en-US" sz="15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③ 会話本文は誰も覗かない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8403336" y="3977640"/>
            <a:ext cx="297180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管理者にも運営者にも、利用者の会話の中身を見る画面・APIはありません。把握できるのは件数・利用量・操作記録などのメタ情報だけ。監視とプライバシーを両立します。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オンプレミス運用・運用時のインターネット接続も不要。Dockerで御社環境内に完結します。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ROOTAは、これからも進化します。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ご導入後も機能が広がります。以下は開発中・今後の提供予定です。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6" name="Shape 4"/>
          <p:cNvSpPr/>
          <p:nvPr/>
        </p:nvSpPr>
        <p:spPr>
          <a:xfrm>
            <a:off x="960120" y="2606040"/>
            <a:ext cx="1417320" cy="384048"/>
          </a:xfrm>
          <a:prstGeom prst="roundRect">
            <a:avLst>
              <a:gd name="adj" fmla="val 2619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7" name="Text 5"/>
          <p:cNvSpPr/>
          <p:nvPr/>
        </p:nvSpPr>
        <p:spPr>
          <a:xfrm>
            <a:off x="960120" y="2606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開発予定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971800" y="246888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8688" y="2715768"/>
            <a:ext cx="374904" cy="374904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960120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議事録自動作成</a:t>
            </a:r>
            <a:endParaRPr lang="en-US" sz="1650" dirty="0"/>
          </a:p>
        </p:txBody>
      </p:sp>
      <p:sp>
        <p:nvSpPr>
          <p:cNvPr id="11" name="Text 8"/>
          <p:cNvSpPr/>
          <p:nvPr/>
        </p:nvSpPr>
        <p:spPr>
          <a:xfrm>
            <a:off x="960120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会議の録音から、要点・決定事項を整理した議事録を自動で作成。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4361688" y="233172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3" name="Shape 10"/>
          <p:cNvSpPr/>
          <p:nvPr/>
        </p:nvSpPr>
        <p:spPr>
          <a:xfrm>
            <a:off x="4681728" y="2606040"/>
            <a:ext cx="1417320" cy="384048"/>
          </a:xfrm>
          <a:prstGeom prst="roundRect">
            <a:avLst>
              <a:gd name="adj" fmla="val 2619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4" name="Text 11"/>
          <p:cNvSpPr/>
          <p:nvPr/>
        </p:nvSpPr>
        <p:spPr>
          <a:xfrm>
            <a:off x="4681728" y="2606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開発予定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6693408" y="2468880"/>
            <a:ext cx="868680" cy="86868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40296" y="2715768"/>
            <a:ext cx="374904" cy="37490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681728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AIエージェント</a:t>
            </a:r>
            <a:endParaRPr lang="en-US" sz="1650" dirty="0"/>
          </a:p>
        </p:txBody>
      </p:sp>
      <p:sp>
        <p:nvSpPr>
          <p:cNvPr id="18" name="Text 14"/>
          <p:cNvSpPr/>
          <p:nvPr/>
        </p:nvSpPr>
        <p:spPr>
          <a:xfrm>
            <a:off x="4681728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定型業務を任せられる業務特化アシスタントを、テナント内で作成。</a:t>
            </a:r>
            <a:endParaRPr lang="en-US" sz="1150" dirty="0"/>
          </a:p>
        </p:txBody>
      </p:sp>
      <p:sp>
        <p:nvSpPr>
          <p:cNvPr id="19" name="Shape 15"/>
          <p:cNvSpPr/>
          <p:nvPr/>
        </p:nvSpPr>
        <p:spPr>
          <a:xfrm>
            <a:off x="8083296" y="2331720"/>
            <a:ext cx="3520440" cy="3246120"/>
          </a:xfrm>
          <a:prstGeom prst="roundRect">
            <a:avLst>
              <a:gd name="adj" fmla="val 394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20" name="Shape 16"/>
          <p:cNvSpPr/>
          <p:nvPr/>
        </p:nvSpPr>
        <p:spPr>
          <a:xfrm>
            <a:off x="8403336" y="2606040"/>
            <a:ext cx="1417320" cy="384048"/>
          </a:xfrm>
          <a:prstGeom prst="roundRect">
            <a:avLst>
              <a:gd name="adj" fmla="val 26190"/>
            </a:avLst>
          </a:prstGeom>
          <a:solidFill>
            <a:srgbClr val="B7791F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1" name="Text 17"/>
          <p:cNvSpPr/>
          <p:nvPr/>
        </p:nvSpPr>
        <p:spPr>
          <a:xfrm>
            <a:off x="8403336" y="2606040"/>
            <a:ext cx="1417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開発予定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10415016" y="2468880"/>
            <a:ext cx="868680" cy="86868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61904" y="2715768"/>
            <a:ext cx="374904" cy="374904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8403336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65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専用スマホアプリ</a:t>
            </a:r>
            <a:endParaRPr lang="en-US" sz="1650" dirty="0"/>
          </a:p>
        </p:txBody>
      </p:sp>
      <p:sp>
        <p:nvSpPr>
          <p:cNvPr id="25" name="Text 20"/>
          <p:cNvSpPr/>
          <p:nvPr/>
        </p:nvSpPr>
        <p:spPr>
          <a:xfrm>
            <a:off x="8403336" y="3886200"/>
            <a:ext cx="297180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外出先・移動中でも、スマホから手軽に。（現在もモバイル対応のWebで利用可能）</a:t>
            </a:r>
            <a:endParaRPr lang="en-US" sz="1150" dirty="0"/>
          </a:p>
        </p:txBody>
      </p:sp>
      <p:sp>
        <p:nvSpPr>
          <p:cNvPr id="26" name="Text 21"/>
          <p:cNvSpPr/>
          <p:nvPr/>
        </p:nvSpPr>
        <p:spPr>
          <a:xfrm>
            <a:off x="640080" y="58978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AA7B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開発中の機能です。提供時期・仕様は変更になる場合があります。</a:t>
            </a:r>
            <a:endParaRPr lang="en-US" sz="9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VOICES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現場から、こんな声が届いています。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0120" y="2423160"/>
            <a:ext cx="502920" cy="502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960120" y="310896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出張申請の細かい決まり、いちいち社内の資料を漁って探すのが面倒で…ローカルで検索できないかな。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960120" y="5074920"/>
            <a:ext cx="2880360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960120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ある中小企業さま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960120" y="54864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EF7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0" name="Text 7"/>
          <p:cNvSpPr/>
          <p:nvPr/>
        </p:nvSpPr>
        <p:spPr>
          <a:xfrm>
            <a:off x="960120" y="5486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探す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4361688" y="214884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1728" y="2423160"/>
            <a:ext cx="502920" cy="50292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81728" y="310896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個人情報をマスクして相談している手間が、まるごと要らなくなる。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4681728" y="5074920"/>
            <a:ext cx="2880360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1"/>
          <p:cNvSpPr/>
          <p:nvPr/>
        </p:nvSpPr>
        <p:spPr>
          <a:xfrm>
            <a:off x="4681728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顧問税理士さま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681728" y="54864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EF7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7" name="Text 13"/>
          <p:cNvSpPr/>
          <p:nvPr/>
        </p:nvSpPr>
        <p:spPr>
          <a:xfrm>
            <a:off x="4681728" y="5486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守る・クローズド</a:t>
            </a:r>
            <a:endParaRPr lang="en-US" sz="950" dirty="0"/>
          </a:p>
        </p:txBody>
      </p:sp>
      <p:sp>
        <p:nvSpPr>
          <p:cNvPr id="18" name="Shape 14"/>
          <p:cNvSpPr/>
          <p:nvPr/>
        </p:nvSpPr>
        <p:spPr>
          <a:xfrm>
            <a:off x="8083296" y="2148840"/>
            <a:ext cx="3520440" cy="3611880"/>
          </a:xfrm>
          <a:prstGeom prst="roundRect">
            <a:avLst>
              <a:gd name="adj" fmla="val 3636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03336" y="2423160"/>
            <a:ext cx="502920" cy="50292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8403336" y="3108960"/>
            <a:ext cx="29260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5000"/>
              </a:lnSpc>
              <a:buNone/>
            </a:pPr>
            <a:r>
              <a:rPr lang="en-US" sz="140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人では気づきにくい項目の漏れも、先に拾ってくれそうだね。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8403336" y="5074920"/>
            <a:ext cx="2880360" cy="0"/>
          </a:xfrm>
          <a:prstGeom prst="line">
            <a:avLst/>
          </a:prstGeom>
          <a:noFill/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7"/>
          <p:cNvSpPr/>
          <p:nvPr/>
        </p:nvSpPr>
        <p:spPr>
          <a:xfrm>
            <a:off x="8403336" y="5138928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— 顧問税理士さま</a:t>
            </a:r>
            <a:endParaRPr lang="en-US" sz="1150" dirty="0"/>
          </a:p>
        </p:txBody>
      </p:sp>
      <p:sp>
        <p:nvSpPr>
          <p:cNvPr id="23" name="Shape 18"/>
          <p:cNvSpPr/>
          <p:nvPr/>
        </p:nvSpPr>
        <p:spPr>
          <a:xfrm>
            <a:off x="8403336" y="5486400"/>
            <a:ext cx="1645920" cy="310896"/>
          </a:xfrm>
          <a:prstGeom prst="roundRect">
            <a:avLst>
              <a:gd name="adj" fmla="val 50000"/>
            </a:avLst>
          </a:prstGeom>
          <a:solidFill>
            <a:srgbClr val="EEF7F2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4" name="Text 19"/>
          <p:cNvSpPr/>
          <p:nvPr/>
        </p:nvSpPr>
        <p:spPr>
          <a:xfrm>
            <a:off x="8403336" y="5486400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守る</a:t>
            </a:r>
            <a:endParaRPr lang="en-US" sz="950" dirty="0"/>
          </a:p>
        </p:txBody>
      </p:sp>
      <p:sp>
        <p:nvSpPr>
          <p:cNvPr id="25" name="Text 20"/>
          <p:cNvSpPr/>
          <p:nvPr/>
        </p:nvSpPr>
        <p:spPr>
          <a:xfrm>
            <a:off x="457200" y="603504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98A0AE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製品コンセプトに対して寄せられた声・想定される活用例です。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PRICING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3つのプラン。中小企業には共有タイプがおすすめ。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20440" cy="4343400"/>
          </a:xfrm>
          <a:prstGeom prst="roundRect">
            <a:avLst>
              <a:gd name="adj" fmla="val 4156"/>
            </a:avLst>
          </a:prstGeom>
          <a:solidFill>
            <a:srgbClr val="FFFFFF"/>
          </a:solidFill>
          <a:ln w="25400">
            <a:solidFill>
              <a:srgbClr val="2E9E6B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1600200" y="1581912"/>
            <a:ext cx="1600200" cy="457200"/>
          </a:xfrm>
          <a:prstGeom prst="roundRect">
            <a:avLst>
              <a:gd name="adj" fmla="val 50000"/>
            </a:avLst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1600200" y="1581912"/>
            <a:ext cx="1600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おすすめ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960120" y="2148840"/>
            <a:ext cx="777240" cy="777240"/>
          </a:xfrm>
          <a:prstGeom prst="ellipse">
            <a:avLst/>
          </a:prstGeom>
          <a:solidFill>
            <a:srgbClr val="1F7A52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9576" y="2368296"/>
            <a:ext cx="338328" cy="33832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828800" y="21488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共有タイプ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960120" y="31089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  </a:t>
            </a: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20万円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960120" y="36118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 5万円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〜10名／追加 5,000円/名</a:t>
            </a:r>
            <a:endParaRPr lang="en-US" sz="1600" dirty="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425696"/>
            <a:ext cx="237744" cy="23774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316736" y="43342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初期費用をおさえて始められる</a:t>
            </a:r>
            <a:endParaRPr lang="en-US" sz="1150" dirty="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4901184"/>
            <a:ext cx="237744" cy="23774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316736" y="48097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構築・運用の手間は不要</a:t>
            </a:r>
            <a:endParaRPr lang="en-US" sz="1150" dirty="0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7552" y="5376672"/>
            <a:ext cx="237744" cy="237744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316736" y="52852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データは企業ごとに分離</a:t>
            </a:r>
            <a:endParaRPr lang="en-US" sz="1150" dirty="0"/>
          </a:p>
        </p:txBody>
      </p:sp>
      <p:sp>
        <p:nvSpPr>
          <p:cNvPr id="18" name="Shape 12"/>
          <p:cNvSpPr/>
          <p:nvPr/>
        </p:nvSpPr>
        <p:spPr>
          <a:xfrm>
            <a:off x="4361688" y="2011680"/>
            <a:ext cx="3520440" cy="4114800"/>
          </a:xfrm>
          <a:prstGeom prst="roundRect">
            <a:avLst>
              <a:gd name="adj" fmla="val 4156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3"/>
          <p:cNvSpPr/>
          <p:nvPr/>
        </p:nvSpPr>
        <p:spPr>
          <a:xfrm>
            <a:off x="4681728" y="2377440"/>
            <a:ext cx="777240" cy="77724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01184" y="2596896"/>
            <a:ext cx="338328" cy="338328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5550408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占有タイプ</a:t>
            </a:r>
            <a:endParaRPr lang="en-US" sz="1800" dirty="0"/>
          </a:p>
        </p:txBody>
      </p:sp>
      <p:sp>
        <p:nvSpPr>
          <p:cNvPr id="22" name="Text 15"/>
          <p:cNvSpPr/>
          <p:nvPr/>
        </p:nvSpPr>
        <p:spPr>
          <a:xfrm>
            <a:off x="4681728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</a:t>
            </a: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</a:t>
            </a: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250万円</a:t>
            </a:r>
            <a:endParaRPr lang="en-US" sz="1100" dirty="0"/>
          </a:p>
        </p:txBody>
      </p:sp>
      <p:sp>
        <p:nvSpPr>
          <p:cNvPr id="23" name="Text 16"/>
          <p:cNvSpPr/>
          <p:nvPr/>
        </p:nvSpPr>
        <p:spPr>
          <a:xfrm>
            <a:off x="4681728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月額 5万円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〜10名／追加 5,000円/名</a:t>
            </a:r>
            <a:endParaRPr lang="en-US" sz="1600" dirty="0"/>
          </a:p>
        </p:txBody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4654296"/>
            <a:ext cx="237744" cy="237744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5038344" y="4562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御社専用の環境</a:t>
            </a:r>
            <a:endParaRPr lang="en-US" sz="1150" dirty="0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129784"/>
            <a:ext cx="237744" cy="237744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5038344" y="50383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データもモデルも他社と完全分離</a:t>
            </a:r>
            <a:endParaRPr lang="en-US" sz="1150" dirty="0"/>
          </a:p>
        </p:txBody>
      </p:sp>
      <p:pic>
        <p:nvPicPr>
          <p:cNvPr id="28" name="Image 7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09160" y="5605272"/>
            <a:ext cx="237744" cy="237744"/>
          </a:xfrm>
          <a:prstGeom prst="rect">
            <a:avLst/>
          </a:prstGeom>
        </p:spPr>
      </p:pic>
      <p:sp>
        <p:nvSpPr>
          <p:cNvPr id="29" name="Text 19"/>
          <p:cNvSpPr/>
          <p:nvPr/>
        </p:nvSpPr>
        <p:spPr>
          <a:xfrm>
            <a:off x="5038344" y="5513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より高い分離性を求める方へ</a:t>
            </a:r>
            <a:endParaRPr lang="en-US" sz="1150" dirty="0"/>
          </a:p>
        </p:txBody>
      </p:sp>
      <p:sp>
        <p:nvSpPr>
          <p:cNvPr id="30" name="Shape 20"/>
          <p:cNvSpPr/>
          <p:nvPr/>
        </p:nvSpPr>
        <p:spPr>
          <a:xfrm>
            <a:off x="8083296" y="2011680"/>
            <a:ext cx="3520440" cy="4114800"/>
          </a:xfrm>
          <a:prstGeom prst="roundRect">
            <a:avLst>
              <a:gd name="adj" fmla="val 4156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31" name="Shape 21"/>
          <p:cNvSpPr/>
          <p:nvPr/>
        </p:nvSpPr>
        <p:spPr>
          <a:xfrm>
            <a:off x="8403336" y="2377440"/>
            <a:ext cx="777240" cy="77724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pic>
        <p:nvPicPr>
          <p:cNvPr id="32" name="Image 8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22792" y="2596896"/>
            <a:ext cx="338328" cy="338328"/>
          </a:xfrm>
          <a:prstGeom prst="rect">
            <a:avLst/>
          </a:prstGeom>
        </p:spPr>
      </p:pic>
      <p:sp>
        <p:nvSpPr>
          <p:cNvPr id="33" name="Text 22"/>
          <p:cNvSpPr/>
          <p:nvPr/>
        </p:nvSpPr>
        <p:spPr>
          <a:xfrm>
            <a:off x="9272016" y="2377440"/>
            <a:ext cx="2194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オンプレタイプ</a:t>
            </a:r>
            <a:endParaRPr lang="en-US" sz="1800" dirty="0"/>
          </a:p>
        </p:txBody>
      </p:sp>
      <p:sp>
        <p:nvSpPr>
          <p:cNvPr id="34" name="Text 23"/>
          <p:cNvSpPr/>
          <p:nvPr/>
        </p:nvSpPr>
        <p:spPr>
          <a:xfrm>
            <a:off x="8403336" y="3337560"/>
            <a:ext cx="2926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初期費用  </a:t>
            </a:r>
            <a:r>
              <a:rPr lang="en-US" sz="22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500万円</a:t>
            </a:r>
            <a:endParaRPr lang="en-US" sz="1100" dirty="0"/>
          </a:p>
        </p:txBody>
      </p:sp>
      <p:sp>
        <p:nvSpPr>
          <p:cNvPr id="35" name="Text 24"/>
          <p:cNvSpPr/>
          <p:nvPr/>
        </p:nvSpPr>
        <p:spPr>
          <a:xfrm>
            <a:off x="8403336" y="38404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600" b="1" dirty="0" err="1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保守</a:t>
            </a:r>
            <a:r>
              <a:rPr lang="en-US" sz="16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5万円/月</a:t>
            </a:r>
            <a:endParaRPr lang="en-US" sz="16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10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ユーザー数 無制限</a:t>
            </a:r>
            <a:endParaRPr lang="en-US" sz="1600" dirty="0"/>
          </a:p>
        </p:txBody>
      </p:sp>
      <p:pic>
        <p:nvPicPr>
          <p:cNvPr id="36" name="Image 9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4654296"/>
            <a:ext cx="237744" cy="237744"/>
          </a:xfrm>
          <a:prstGeom prst="rect">
            <a:avLst/>
          </a:prstGeom>
        </p:spPr>
      </p:pic>
      <p:sp>
        <p:nvSpPr>
          <p:cNvPr id="37" name="Text 25"/>
          <p:cNvSpPr/>
          <p:nvPr/>
        </p:nvSpPr>
        <p:spPr>
          <a:xfrm>
            <a:off x="8759952" y="4562856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御社施設内に設置</a:t>
            </a:r>
            <a:endParaRPr lang="en-US" sz="1150" dirty="0"/>
          </a:p>
        </p:txBody>
      </p:sp>
      <p:pic>
        <p:nvPicPr>
          <p:cNvPr id="38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5129784"/>
            <a:ext cx="237744" cy="237744"/>
          </a:xfrm>
          <a:prstGeom prst="rect">
            <a:avLst/>
          </a:prstGeom>
        </p:spPr>
      </p:pic>
      <p:sp>
        <p:nvSpPr>
          <p:cNvPr id="39" name="Text 26"/>
          <p:cNvSpPr/>
          <p:nvPr/>
        </p:nvSpPr>
        <p:spPr>
          <a:xfrm>
            <a:off x="8759952" y="5038344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フルコントロール</a:t>
            </a:r>
            <a:endParaRPr lang="en-US" sz="1150" dirty="0"/>
          </a:p>
        </p:txBody>
      </p:sp>
      <p:pic>
        <p:nvPicPr>
          <p:cNvPr id="40" name="Image 1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30768" y="5605272"/>
            <a:ext cx="237744" cy="237744"/>
          </a:xfrm>
          <a:prstGeom prst="rect">
            <a:avLst/>
          </a:prstGeom>
        </p:spPr>
      </p:pic>
      <p:sp>
        <p:nvSpPr>
          <p:cNvPr id="41" name="Text 27"/>
          <p:cNvSpPr/>
          <p:nvPr/>
        </p:nvSpPr>
        <p:spPr>
          <a:xfrm>
            <a:off x="8759952" y="5513832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1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全社・大規模展開向け</a:t>
            </a:r>
            <a:endParaRPr lang="en-US" sz="11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FREE TRIAL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まずは、無料でお試しください。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1755648"/>
            <a:ext cx="1219169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「何に使えるか分からない」——その答えを、私たちが伴走しながら一緒に見つけます。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468880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費用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2286000" y="2468880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無償（共有プランにてお試し）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40080" y="3218688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9" name="Text 7"/>
          <p:cNvSpPr/>
          <p:nvPr/>
        </p:nvSpPr>
        <p:spPr>
          <a:xfrm>
            <a:off x="914400" y="3218688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対象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2286000" y="3218688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総務・管理部門の皆さま（〜10名）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40080" y="3968496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2" name="Text 10"/>
          <p:cNvSpPr/>
          <p:nvPr/>
        </p:nvSpPr>
        <p:spPr>
          <a:xfrm>
            <a:off x="914400" y="3968496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期間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2286000" y="3968496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1ヶ月間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640080" y="4718304"/>
            <a:ext cx="5074920" cy="621792"/>
          </a:xfrm>
          <a:prstGeom prst="roundRect">
            <a:avLst>
              <a:gd name="adj" fmla="val 20588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15" name="Text 13"/>
          <p:cNvSpPr/>
          <p:nvPr/>
        </p:nvSpPr>
        <p:spPr>
          <a:xfrm>
            <a:off x="914400" y="4718304"/>
            <a:ext cx="14173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登録データ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2286000" y="4718304"/>
            <a:ext cx="3291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社内規程・FAQ・手順書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0" y="2468880"/>
            <a:ext cx="5623560" cy="1783080"/>
          </a:xfrm>
          <a:prstGeom prst="roundRect">
            <a:avLst>
              <a:gd name="adj" fmla="val 7179"/>
            </a:avLst>
          </a:prstGeom>
          <a:solidFill>
            <a:srgbClr val="EEF7F2"/>
          </a:solidFill>
          <a:ln w="12700">
            <a:solidFill>
              <a:srgbClr val="55C191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36208" y="2724912"/>
            <a:ext cx="457200" cy="45720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6812280" y="2724912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データの取り扱い</a:t>
            </a:r>
            <a:endParaRPr lang="en-US" sz="1400" dirty="0"/>
          </a:p>
        </p:txBody>
      </p:sp>
      <p:sp>
        <p:nvSpPr>
          <p:cNvPr id="20" name="Text 17"/>
          <p:cNvSpPr/>
          <p:nvPr/>
        </p:nvSpPr>
        <p:spPr>
          <a:xfrm>
            <a:off x="6263640" y="3310128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企業ごとに分離して保存。他社からは見えません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国内のクローズド環境で処理し、外部へ送信しません</a:t>
            </a:r>
            <a:endParaRPr lang="en-US" sz="1150" dirty="0"/>
          </a:p>
          <a:p>
            <a:pPr marL="342900" indent="-342900">
              <a:lnSpc>
                <a:spcPct val="105000"/>
              </a:lnSpc>
              <a:spcAft>
                <a:spcPts val="400"/>
              </a:spcAft>
              <a:buSzPct val="100000"/>
              <a:buChar char="•"/>
            </a:pPr>
            <a:r>
              <a:rPr lang="en-US" sz="115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お試し終了後は、登録データを削除します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943600" y="4434840"/>
            <a:ext cx="5623560" cy="1783080"/>
          </a:xfrm>
          <a:prstGeom prst="roundRect">
            <a:avLst>
              <a:gd name="adj" fmla="val 7179"/>
            </a:avLst>
          </a:prstGeom>
          <a:solidFill>
            <a:srgbClr val="F4F6FB"/>
          </a:solidFill>
          <a:ln w="12700">
            <a:solidFill>
              <a:srgbClr val="E7EAF0"/>
            </a:solidFill>
            <a:prstDash val="solid"/>
          </a:ln>
        </p:spPr>
        <p:txBody>
          <a:bodyPr/>
          <a:lstStyle/>
          <a:p>
            <a:endParaRPr lang="ja-JP" altLang="en-US"/>
          </a:p>
        </p:txBody>
      </p:sp>
      <p:sp>
        <p:nvSpPr>
          <p:cNvPr id="22" name="Text 19"/>
          <p:cNvSpPr/>
          <p:nvPr/>
        </p:nvSpPr>
        <p:spPr>
          <a:xfrm>
            <a:off x="6263640" y="461772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伴走支援の内容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6263640" y="4983480"/>
            <a:ext cx="5120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キックオフでデータ投入・初期設定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週1回の振り返り（よく効く質問を一緒に発見）</a:t>
            </a:r>
            <a:endParaRPr lang="en-US" sz="1200" dirty="0"/>
          </a:p>
          <a:p>
            <a:pPr marL="342900" indent="-342900">
              <a:lnSpc>
                <a:spcPct val="105000"/>
              </a:lnSpc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最終日に効果レポートをご提出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5486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kern="0" spc="400" dirty="0">
                <a:solidFill>
                  <a:srgbClr val="2E9E6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TO START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457200" y="896112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小さく試して、効果を確かめ、本番へ。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1945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5" name="Shape 3"/>
          <p:cNvSpPr/>
          <p:nvPr/>
        </p:nvSpPr>
        <p:spPr>
          <a:xfrm>
            <a:off x="960120" y="251460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6" name="Text 4"/>
          <p:cNvSpPr/>
          <p:nvPr/>
        </p:nvSpPr>
        <p:spPr>
          <a:xfrm>
            <a:off x="9601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20116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01168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無料お試し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87552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総務・管理部門で、規程・FAQを登録してPoC。実際の業務で効果を体感。</a:t>
            </a:r>
            <a:endParaRPr lang="en-US" sz="125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0520" y="3657600"/>
            <a:ext cx="411480" cy="41148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4526280" y="21945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2" name="Shape 9"/>
          <p:cNvSpPr/>
          <p:nvPr/>
        </p:nvSpPr>
        <p:spPr>
          <a:xfrm>
            <a:off x="4846320" y="2514600"/>
            <a:ext cx="914400" cy="914400"/>
          </a:xfrm>
          <a:prstGeom prst="ellipse">
            <a:avLst/>
          </a:prstGeom>
          <a:solidFill>
            <a:srgbClr val="2E9E6B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13" name="Text 10"/>
          <p:cNvSpPr/>
          <p:nvPr/>
        </p:nvSpPr>
        <p:spPr>
          <a:xfrm>
            <a:off x="48463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1"/>
          <p:cNvSpPr/>
          <p:nvPr/>
        </p:nvSpPr>
        <p:spPr>
          <a:xfrm>
            <a:off x="58978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2E9E6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2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589788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効果を評価</a:t>
            </a:r>
            <a:endParaRPr lang="en-US" sz="1700" dirty="0"/>
          </a:p>
        </p:txBody>
      </p:sp>
      <p:sp>
        <p:nvSpPr>
          <p:cNvPr id="16" name="Text 13"/>
          <p:cNvSpPr/>
          <p:nvPr/>
        </p:nvSpPr>
        <p:spPr>
          <a:xfrm>
            <a:off x="4873752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問い合わせ削減・検索時間短縮・ナレッジ共有を数字で確認。</a:t>
            </a:r>
            <a:endParaRPr lang="en-US" sz="1250" dirty="0"/>
          </a:p>
        </p:txBody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3657600"/>
            <a:ext cx="411480" cy="411480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8412480" y="2194560"/>
            <a:ext cx="3429000" cy="3383280"/>
          </a:xfrm>
          <a:prstGeom prst="roundRect">
            <a:avLst>
              <a:gd name="adj" fmla="val 3784"/>
            </a:avLst>
          </a:prstGeom>
          <a:solidFill>
            <a:srgbClr val="F4F6FB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19" name="Shape 15"/>
          <p:cNvSpPr/>
          <p:nvPr/>
        </p:nvSpPr>
        <p:spPr>
          <a:xfrm>
            <a:off x="8732520" y="2514600"/>
            <a:ext cx="914400" cy="914400"/>
          </a:xfrm>
          <a:prstGeom prst="ellipse">
            <a:avLst/>
          </a:prstGeom>
          <a:solidFill>
            <a:srgbClr val="0F1F3D"/>
          </a:solidFill>
          <a:ln/>
        </p:spPr>
        <p:txBody>
          <a:bodyPr/>
          <a:lstStyle/>
          <a:p>
            <a:endParaRPr lang="ja-JP" altLang="en-US"/>
          </a:p>
        </p:txBody>
      </p:sp>
      <p:sp>
        <p:nvSpPr>
          <p:cNvPr id="20" name="Text 16"/>
          <p:cNvSpPr/>
          <p:nvPr/>
        </p:nvSpPr>
        <p:spPr>
          <a:xfrm>
            <a:off x="8732520" y="251460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3000" dirty="0"/>
          </a:p>
        </p:txBody>
      </p:sp>
      <p:sp>
        <p:nvSpPr>
          <p:cNvPr id="21" name="Text 17"/>
          <p:cNvSpPr/>
          <p:nvPr/>
        </p:nvSpPr>
        <p:spPr>
          <a:xfrm>
            <a:off x="9784080" y="2606040"/>
            <a:ext cx="1920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STEP 3</a:t>
            </a:r>
            <a:endParaRPr lang="en-US" sz="1300" dirty="0"/>
          </a:p>
        </p:txBody>
      </p:sp>
      <p:sp>
        <p:nvSpPr>
          <p:cNvPr id="22" name="Text 18"/>
          <p:cNvSpPr/>
          <p:nvPr/>
        </p:nvSpPr>
        <p:spPr>
          <a:xfrm>
            <a:off x="9784080" y="2944368"/>
            <a:ext cx="1920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F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本番運用・全社へ</a:t>
            </a:r>
            <a:endParaRPr lang="en-US" sz="1700" dirty="0"/>
          </a:p>
        </p:txBody>
      </p:sp>
      <p:sp>
        <p:nvSpPr>
          <p:cNvPr id="23" name="Text 19"/>
          <p:cNvSpPr/>
          <p:nvPr/>
        </p:nvSpPr>
        <p:spPr>
          <a:xfrm>
            <a:off x="8759952" y="3749040"/>
            <a:ext cx="27889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30000"/>
              </a:lnSpc>
              <a:buNone/>
            </a:pPr>
            <a:r>
              <a:rPr lang="en-US" sz="1250" dirty="0">
                <a:solidFill>
                  <a:srgbClr val="5B647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共有プランで本番開始。必要に応じて占有・オンプレへ拡張も可能。</a:t>
            </a:r>
            <a:endParaRPr lang="en-US" sz="12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1371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dirty="0">
                <a:solidFill>
                  <a:srgbClr val="DDF3E8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情報を外へ出してAIを使う時代から、</a:t>
            </a:r>
            <a:endParaRPr lang="en-US" sz="1800" dirty="0"/>
          </a:p>
        </p:txBody>
      </p:sp>
      <p:sp>
        <p:nvSpPr>
          <p:cNvPr id="3" name="Text 1"/>
          <p:cNvSpPr/>
          <p:nvPr/>
        </p:nvSpPr>
        <p:spPr>
          <a:xfrm>
            <a:off x="0" y="1965960"/>
            <a:ext cx="12191695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情報を守りながら、</a:t>
            </a:r>
            <a:endParaRPr lang="en-US" sz="4200" dirty="0"/>
          </a:p>
          <a:p>
            <a:pPr marL="0" indent="0" algn="ctr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AIを使う時代へ。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0" y="3657600"/>
            <a:ext cx="121916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ECFBF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外部に預けるのではなく、自社で育てるAIへ。</a:t>
            </a:r>
            <a:endParaRPr lang="en-US" sz="1600" dirty="0"/>
          </a:p>
        </p:txBody>
      </p:sp>
      <p:pic>
        <p:nvPicPr>
          <p:cNvPr id="5" name="Image 0" descr="/home/claude/emblem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02656" y="4343400"/>
            <a:ext cx="786384" cy="786384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0" y="5166360"/>
            <a:ext cx="121916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300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ROOTA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4769968" y="5806440"/>
            <a:ext cx="2651760" cy="60350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/>
          <a:effectLst>
            <a:outerShdw blurRad="101600" dist="25400" dir="5400000" algn="bl" rotWithShape="0">
              <a:srgbClr val="8A93A3">
                <a:alpha val="10000"/>
              </a:srgbClr>
            </a:outerShdw>
          </a:effectLst>
        </p:spPr>
        <p:txBody>
          <a:bodyPr/>
          <a:lstStyle/>
          <a:p>
            <a:endParaRPr lang="ja-JP" altLang="en-US"/>
          </a:p>
        </p:txBody>
      </p:sp>
      <p:sp>
        <p:nvSpPr>
          <p:cNvPr id="8" name="Text 5"/>
          <p:cNvSpPr/>
          <p:nvPr/>
        </p:nvSpPr>
        <p:spPr>
          <a:xfrm>
            <a:off x="4769968" y="5806440"/>
            <a:ext cx="2651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F7A5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無料で試す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1116</TotalTime>
  <Words>978</Words>
  <Application>Microsoft Office PowerPoint</Application>
  <PresentationFormat>ワイド画面</PresentationFormat>
  <Paragraphs>276</Paragraphs>
  <Slides>19</Slides>
  <Notes>19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19</vt:i4>
      </vt:variant>
    </vt:vector>
  </HeadingPairs>
  <TitlesOfParts>
    <vt:vector size="23" baseType="lpstr">
      <vt:lpstr>Noto Sans JP</vt:lpstr>
      <vt:lpstr>Arial</vt:lpstr>
      <vt:lpstr>Inter</vt:lpstr>
      <vt:lpstr>Office Theme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ROOTA ご提案 — 中小企業向け 完全クローズドAI</dc:title>
  <dc:subject>PptxGenJS Presentation</dc:subject>
  <dc:creator>KTGS</dc:creator>
  <cp:lastModifiedBy>片ケ瀬 敏夫</cp:lastModifiedBy>
  <cp:revision>3</cp:revision>
  <dcterms:created xsi:type="dcterms:W3CDTF">2026-06-12T08:56:52Z</dcterms:created>
  <dcterms:modified xsi:type="dcterms:W3CDTF">2026-06-18T05:01:12Z</dcterms:modified>
</cp:coreProperties>
</file>